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  <p:embeddedFont>
      <p:font typeface="Montserrat" panose="00000500000000000000" pitchFamily="2" charset="0"/>
      <p:regular r:id="rId20"/>
    </p:embeddedFont>
    <p:embeddedFont>
      <p:font typeface="Montserrat Bold" panose="020B0604020202020204" charset="0"/>
      <p:regular r:id="rId21"/>
    </p:embeddedFont>
    <p:embeddedFont>
      <p:font typeface="Montserrat Bold Italics" panose="020B0604020202020204" charset="0"/>
      <p:regular r:id="rId22"/>
    </p:embeddedFont>
    <p:embeddedFont>
      <p:font typeface="Montserrat Medium" panose="020F0502020204030204" pitchFamily="2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Ahmed" userId="9ea6ecd34343b800" providerId="LiveId" clId="{3F6C618B-06CF-46F8-91B3-9CA57DD78D1F}"/>
    <pc:docChg chg="modSld">
      <pc:chgData name="Abdullah Ahmed" userId="9ea6ecd34343b800" providerId="LiveId" clId="{3F6C618B-06CF-46F8-91B3-9CA57DD78D1F}" dt="2026-10-30T19:35:19.076" v="0" actId="14100"/>
      <pc:docMkLst>
        <pc:docMk/>
      </pc:docMkLst>
      <pc:sldChg chg="modSp mod">
        <pc:chgData name="Abdullah Ahmed" userId="9ea6ecd34343b800" providerId="LiveId" clId="{3F6C618B-06CF-46F8-91B3-9CA57DD78D1F}" dt="2026-10-30T19:35:19.076" v="0" actId="14100"/>
        <pc:sldMkLst>
          <pc:docMk/>
          <pc:sldMk cId="0" sldId="256"/>
        </pc:sldMkLst>
        <pc:grpChg chg="mod">
          <ac:chgData name="Abdullah Ahmed" userId="9ea6ecd34343b800" providerId="LiveId" clId="{3F6C618B-06CF-46F8-91B3-9CA57DD78D1F}" dt="2026-10-30T19:35:19.076" v="0" actId="14100"/>
          <ac:grpSpMkLst>
            <pc:docMk/>
            <pc:sldMk cId="0" sldId="256"/>
            <ac:grpSpMk id="26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64307" y="412608"/>
            <a:ext cx="4358950" cy="2949199"/>
            <a:chOff x="0" y="0"/>
            <a:chExt cx="1148036" cy="776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16377" y="413755"/>
            <a:ext cx="4358950" cy="2949199"/>
            <a:chOff x="0" y="0"/>
            <a:chExt cx="1148036" cy="7767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64307" y="3668901"/>
            <a:ext cx="4358950" cy="2949199"/>
            <a:chOff x="0" y="0"/>
            <a:chExt cx="1148036" cy="7767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6377" y="3670048"/>
            <a:ext cx="4358950" cy="2949199"/>
            <a:chOff x="0" y="0"/>
            <a:chExt cx="1148036" cy="7767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64307" y="6922899"/>
            <a:ext cx="4358950" cy="2949199"/>
            <a:chOff x="0" y="0"/>
            <a:chExt cx="1148036" cy="7767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6377" y="6924047"/>
            <a:ext cx="4358950" cy="2949199"/>
            <a:chOff x="0" y="0"/>
            <a:chExt cx="1148036" cy="7767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625133" y="768558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4625133" y="4024851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625133" y="7390194"/>
            <a:ext cx="2119954" cy="2119954"/>
          </a:xfrm>
          <a:custGeom>
            <a:avLst/>
            <a:gdLst/>
            <a:ahLst/>
            <a:cxnLst/>
            <a:rect l="l" t="t" r="r" b="b"/>
            <a:pathLst>
              <a:path w="2119954" h="2119954">
                <a:moveTo>
                  <a:pt x="0" y="0"/>
                </a:moveTo>
                <a:lnTo>
                  <a:pt x="2119954" y="0"/>
                </a:lnTo>
                <a:lnTo>
                  <a:pt x="2119954" y="2119954"/>
                </a:lnTo>
                <a:lnTo>
                  <a:pt x="0" y="2119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131292" y="7278850"/>
            <a:ext cx="2036567" cy="2231298"/>
          </a:xfrm>
          <a:custGeom>
            <a:avLst/>
            <a:gdLst/>
            <a:ahLst/>
            <a:cxnLst/>
            <a:rect l="l" t="t" r="r" b="b"/>
            <a:pathLst>
              <a:path w="2036567" h="2231298">
                <a:moveTo>
                  <a:pt x="0" y="0"/>
                </a:moveTo>
                <a:lnTo>
                  <a:pt x="2036566" y="0"/>
                </a:lnTo>
                <a:lnTo>
                  <a:pt x="2036566" y="2231298"/>
                </a:lnTo>
                <a:lnTo>
                  <a:pt x="0" y="2231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0268052" y="768558"/>
            <a:ext cx="1655600" cy="2237298"/>
          </a:xfrm>
          <a:custGeom>
            <a:avLst/>
            <a:gdLst/>
            <a:ahLst/>
            <a:cxnLst/>
            <a:rect l="l" t="t" r="r" b="b"/>
            <a:pathLst>
              <a:path w="1655600" h="2237298">
                <a:moveTo>
                  <a:pt x="0" y="0"/>
                </a:moveTo>
                <a:lnTo>
                  <a:pt x="1655601" y="0"/>
                </a:lnTo>
                <a:lnTo>
                  <a:pt x="1655601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80256" y="3877483"/>
            <a:ext cx="1738638" cy="2384666"/>
          </a:xfrm>
          <a:custGeom>
            <a:avLst/>
            <a:gdLst/>
            <a:ahLst/>
            <a:cxnLst/>
            <a:rect l="l" t="t" r="r" b="b"/>
            <a:pathLst>
              <a:path w="1738638" h="2384666">
                <a:moveTo>
                  <a:pt x="0" y="0"/>
                </a:moveTo>
                <a:lnTo>
                  <a:pt x="1738638" y="0"/>
                </a:lnTo>
                <a:lnTo>
                  <a:pt x="1738638" y="2384666"/>
                </a:lnTo>
                <a:lnTo>
                  <a:pt x="0" y="2384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0" y="0"/>
            <a:ext cx="10800759" cy="9872098"/>
            <a:chOff x="0" y="0"/>
            <a:chExt cx="2844644" cy="27093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44644" cy="2709333"/>
            </a:xfrm>
            <a:custGeom>
              <a:avLst/>
              <a:gdLst/>
              <a:ahLst/>
              <a:cxnLst/>
              <a:rect l="l" t="t" r="r" b="b"/>
              <a:pathLst>
                <a:path w="2844644" h="2709333">
                  <a:moveTo>
                    <a:pt x="0" y="0"/>
                  </a:moveTo>
                  <a:lnTo>
                    <a:pt x="2844644" y="0"/>
                  </a:lnTo>
                  <a:lnTo>
                    <a:pt x="28446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8446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82799" y="2136335"/>
            <a:ext cx="9835162" cy="579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DEPI Project Presentation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023962" y="9186862"/>
            <a:ext cx="732130" cy="0"/>
          </a:xfrm>
          <a:prstGeom prst="line">
            <a:avLst/>
          </a:prstGeom>
          <a:ln w="142875" cap="flat">
            <a:solidFill>
              <a:srgbClr val="1F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1939314" y="9186862"/>
            <a:ext cx="732130" cy="0"/>
          </a:xfrm>
          <a:prstGeom prst="line">
            <a:avLst/>
          </a:prstGeom>
          <a:ln w="142875" cap="flat">
            <a:solidFill>
              <a:srgbClr val="6EA8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2852419" y="9186862"/>
            <a:ext cx="732130" cy="0"/>
          </a:xfrm>
          <a:prstGeom prst="line">
            <a:avLst/>
          </a:prstGeom>
          <a:ln w="142875" cap="flat">
            <a:solidFill>
              <a:srgbClr val="2E5B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482799" y="267342"/>
            <a:ext cx="14732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3A5F"/>
                </a:solidFill>
                <a:latin typeface="Canva Sans"/>
                <a:ea typeface="Canva Sans"/>
                <a:cs typeface="Canva Sans"/>
                <a:sym typeface="Canva Sans"/>
              </a:rPr>
              <a:t>HR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480" y="2484274"/>
            <a:ext cx="7760520" cy="6534476"/>
            <a:chOff x="0" y="0"/>
            <a:chExt cx="2043923" cy="1721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3923" cy="1721014"/>
            </a:xfrm>
            <a:custGeom>
              <a:avLst/>
              <a:gdLst/>
              <a:ahLst/>
              <a:cxnLst/>
              <a:rect l="l" t="t" r="r" b="b"/>
              <a:pathLst>
                <a:path w="2043923" h="1721014">
                  <a:moveTo>
                    <a:pt x="0" y="0"/>
                  </a:moveTo>
                  <a:lnTo>
                    <a:pt x="2043923" y="0"/>
                  </a:lnTo>
                  <a:lnTo>
                    <a:pt x="2043923" y="1721014"/>
                  </a:lnTo>
                  <a:lnTo>
                    <a:pt x="0" y="172101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3923" cy="1759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16772" y="1268250"/>
            <a:ext cx="7042528" cy="7750500"/>
            <a:chOff x="0" y="0"/>
            <a:chExt cx="1091072" cy="1200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1072" cy="1200755"/>
            </a:xfrm>
            <a:custGeom>
              <a:avLst/>
              <a:gdLst/>
              <a:ahLst/>
              <a:cxnLst/>
              <a:rect l="l" t="t" r="r" b="b"/>
              <a:pathLst>
                <a:path w="1091072" h="1200755">
                  <a:moveTo>
                    <a:pt x="0" y="0"/>
                  </a:moveTo>
                  <a:lnTo>
                    <a:pt x="1091072" y="0"/>
                  </a:lnTo>
                  <a:lnTo>
                    <a:pt x="1091072" y="1200755"/>
                  </a:lnTo>
                  <a:lnTo>
                    <a:pt x="0" y="1200755"/>
                  </a:lnTo>
                  <a:close/>
                </a:path>
              </a:pathLst>
            </a:custGeom>
            <a:blipFill>
              <a:blip r:embed="rId2"/>
              <a:stretch>
                <a:fillRect l="-32464" r="-324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75340" y="1115850"/>
            <a:ext cx="7285632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3480" y="2572056"/>
            <a:ext cx="7563336" cy="630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938" lvl="1" indent="-299469" algn="l">
              <a:lnSpc>
                <a:spcPts val="3883"/>
              </a:lnSpc>
              <a:buFont typeface="Arial"/>
              <a:buChar char="•"/>
            </a:pPr>
            <a:r>
              <a:rPr lang="en-US" sz="2774" b="1" i="1">
                <a:solidFill>
                  <a:srgbClr val="333F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Kareem</a:t>
            </a:r>
            <a:r>
              <a:rPr lang="en-US" sz="2774" b="1">
                <a:solidFill>
                  <a:srgbClr val="333F4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Team Leader &amp; Coordinator, Data collection, Dashboard Design, and task management.</a:t>
            </a:r>
          </a:p>
          <a:p>
            <a:pPr algn="l">
              <a:lnSpc>
                <a:spcPts val="3883"/>
              </a:lnSpc>
            </a:pPr>
            <a:endParaRPr lang="en-US" sz="2774" b="1">
              <a:solidFill>
                <a:srgbClr val="333F4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98938" lvl="1" indent="-299469" algn="l">
              <a:lnSpc>
                <a:spcPts val="3883"/>
              </a:lnSpc>
              <a:buFont typeface="Arial"/>
              <a:buChar char="•"/>
            </a:pPr>
            <a:r>
              <a:rPr lang="en-US" sz="2774" b="1" i="1">
                <a:solidFill>
                  <a:srgbClr val="333F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Arsany</a:t>
            </a:r>
            <a:r>
              <a:rPr lang="en-US" sz="2774" b="1">
                <a:solidFill>
                  <a:srgbClr val="333F4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Data Cleaning &amp; Modeling</a:t>
            </a:r>
          </a:p>
          <a:p>
            <a:pPr algn="l">
              <a:lnSpc>
                <a:spcPts val="3883"/>
              </a:lnSpc>
            </a:pPr>
            <a:endParaRPr lang="en-US" sz="2774" b="1">
              <a:solidFill>
                <a:srgbClr val="333F4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98938" lvl="1" indent="-299469" algn="l">
              <a:lnSpc>
                <a:spcPts val="3883"/>
              </a:lnSpc>
              <a:buFont typeface="Arial"/>
              <a:buChar char="•"/>
            </a:pPr>
            <a:r>
              <a:rPr lang="en-US" sz="2774" b="1" i="1">
                <a:solidFill>
                  <a:srgbClr val="333F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Abdullah</a:t>
            </a:r>
            <a:r>
              <a:rPr lang="en-US" sz="2774" b="1">
                <a:solidFill>
                  <a:srgbClr val="333F4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Workforce Overview + its DAX, documentation, and PPT</a:t>
            </a:r>
          </a:p>
          <a:p>
            <a:pPr algn="l">
              <a:lnSpc>
                <a:spcPts val="3883"/>
              </a:lnSpc>
            </a:pPr>
            <a:endParaRPr lang="en-US" sz="2774" b="1">
              <a:solidFill>
                <a:srgbClr val="333F4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98938" lvl="1" indent="-299469" algn="l">
              <a:lnSpc>
                <a:spcPts val="3883"/>
              </a:lnSpc>
              <a:buFont typeface="Arial"/>
              <a:buChar char="•"/>
            </a:pPr>
            <a:r>
              <a:rPr lang="en-US" sz="2774" b="1" i="1">
                <a:solidFill>
                  <a:srgbClr val="333F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George</a:t>
            </a:r>
            <a:r>
              <a:rPr lang="en-US" sz="2774" b="1">
                <a:solidFill>
                  <a:srgbClr val="333F4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Demographic Overview + its DAX</a:t>
            </a:r>
          </a:p>
          <a:p>
            <a:pPr algn="l">
              <a:lnSpc>
                <a:spcPts val="3883"/>
              </a:lnSpc>
            </a:pPr>
            <a:endParaRPr lang="en-US" sz="2774" b="1">
              <a:solidFill>
                <a:srgbClr val="333F4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98938" lvl="1" indent="-299469" algn="l">
              <a:lnSpc>
                <a:spcPts val="3883"/>
              </a:lnSpc>
              <a:buFont typeface="Arial"/>
              <a:buChar char="•"/>
            </a:pPr>
            <a:r>
              <a:rPr lang="en-US" sz="2774" b="1" i="1">
                <a:solidFill>
                  <a:srgbClr val="333F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Youssef</a:t>
            </a:r>
            <a:r>
              <a:rPr lang="en-US" sz="2774" b="1">
                <a:solidFill>
                  <a:srgbClr val="333F4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Attrition Overview + its DAX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935" y="2484260"/>
            <a:ext cx="8291946" cy="6534490"/>
            <a:chOff x="0" y="0"/>
            <a:chExt cx="2183887" cy="1721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887" cy="1721018"/>
            </a:xfrm>
            <a:custGeom>
              <a:avLst/>
              <a:gdLst/>
              <a:ahLst/>
              <a:cxnLst/>
              <a:rect l="l" t="t" r="r" b="b"/>
              <a:pathLst>
                <a:path w="2183887" h="1721018">
                  <a:moveTo>
                    <a:pt x="0" y="0"/>
                  </a:moveTo>
                  <a:lnTo>
                    <a:pt x="2183887" y="0"/>
                  </a:lnTo>
                  <a:lnTo>
                    <a:pt x="2183887" y="1721018"/>
                  </a:lnTo>
                  <a:lnTo>
                    <a:pt x="0" y="1721018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3887" cy="1759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16772" y="1268250"/>
            <a:ext cx="7042528" cy="7750500"/>
            <a:chOff x="0" y="0"/>
            <a:chExt cx="1091072" cy="1200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1072" cy="1200755"/>
            </a:xfrm>
            <a:custGeom>
              <a:avLst/>
              <a:gdLst/>
              <a:ahLst/>
              <a:cxnLst/>
              <a:rect l="l" t="t" r="r" b="b"/>
              <a:pathLst>
                <a:path w="1091072" h="1200755">
                  <a:moveTo>
                    <a:pt x="0" y="0"/>
                  </a:moveTo>
                  <a:lnTo>
                    <a:pt x="1091072" y="0"/>
                  </a:lnTo>
                  <a:lnTo>
                    <a:pt x="1091072" y="1200755"/>
                  </a:lnTo>
                  <a:lnTo>
                    <a:pt x="0" y="1200755"/>
                  </a:lnTo>
                  <a:close/>
                </a:path>
              </a:pathLst>
            </a:custGeom>
            <a:blipFill>
              <a:blip r:embed="rId2"/>
              <a:stretch>
                <a:fillRect l="-32464" r="-324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87356" y="1392075"/>
            <a:ext cx="8115300" cy="108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5955" y="2934709"/>
            <a:ext cx="7948045" cy="5585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7"/>
              </a:lnSpc>
            </a:pPr>
            <a:r>
              <a:rPr lang="en-US" sz="3205">
                <a:solidFill>
                  <a:srgbClr val="333F48"/>
                </a:solidFill>
                <a:latin typeface="Montserrat"/>
                <a:ea typeface="Montserrat"/>
                <a:cs typeface="Montserrat"/>
                <a:sym typeface="Montserrat"/>
              </a:rPr>
              <a:t>In today's business world, a company's greatest asset isn't its capital or its products; it's its people. But the real question is: Do leaders have a clear, real-time view of how these assets move, what they cost, and why they leave? That is where our project comes in, turning scattered HR data into a powerful storytelling tool for better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218" y="6043450"/>
            <a:ext cx="4908013" cy="1038845"/>
            <a:chOff x="0" y="0"/>
            <a:chExt cx="1002109" cy="2121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109" cy="212109"/>
            </a:xfrm>
            <a:custGeom>
              <a:avLst/>
              <a:gdLst/>
              <a:ahLst/>
              <a:cxnLst/>
              <a:rect l="l" t="t" r="r" b="b"/>
              <a:pathLst>
                <a:path w="1002109" h="212109">
                  <a:moveTo>
                    <a:pt x="80448" y="0"/>
                  </a:moveTo>
                  <a:lnTo>
                    <a:pt x="921661" y="0"/>
                  </a:lnTo>
                  <a:cubicBezTo>
                    <a:pt x="966091" y="0"/>
                    <a:pt x="1002109" y="36018"/>
                    <a:pt x="1002109" y="80448"/>
                  </a:cubicBezTo>
                  <a:lnTo>
                    <a:pt x="1002109" y="131662"/>
                  </a:lnTo>
                  <a:cubicBezTo>
                    <a:pt x="1002109" y="152998"/>
                    <a:pt x="993633" y="173460"/>
                    <a:pt x="978546" y="188547"/>
                  </a:cubicBezTo>
                  <a:cubicBezTo>
                    <a:pt x="963459" y="203634"/>
                    <a:pt x="942997" y="212109"/>
                    <a:pt x="921661" y="212109"/>
                  </a:cubicBezTo>
                  <a:lnTo>
                    <a:pt x="80448" y="212109"/>
                  </a:lnTo>
                  <a:cubicBezTo>
                    <a:pt x="36018" y="212109"/>
                    <a:pt x="0" y="176092"/>
                    <a:pt x="0" y="131662"/>
                  </a:cubicBezTo>
                  <a:lnTo>
                    <a:pt x="0" y="80448"/>
                  </a:lnTo>
                  <a:cubicBezTo>
                    <a:pt x="0" y="36018"/>
                    <a:pt x="36018" y="0"/>
                    <a:pt x="80448" y="0"/>
                  </a:cubicBezTo>
                  <a:close/>
                </a:path>
              </a:pathLst>
            </a:custGeom>
            <a:solidFill>
              <a:srgbClr val="2E5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02109" cy="250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92873" y="6043450"/>
            <a:ext cx="4908013" cy="1038845"/>
            <a:chOff x="0" y="0"/>
            <a:chExt cx="1002109" cy="212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2109" cy="212109"/>
            </a:xfrm>
            <a:custGeom>
              <a:avLst/>
              <a:gdLst/>
              <a:ahLst/>
              <a:cxnLst/>
              <a:rect l="l" t="t" r="r" b="b"/>
              <a:pathLst>
                <a:path w="1002109" h="212109">
                  <a:moveTo>
                    <a:pt x="80448" y="0"/>
                  </a:moveTo>
                  <a:lnTo>
                    <a:pt x="921661" y="0"/>
                  </a:lnTo>
                  <a:cubicBezTo>
                    <a:pt x="966091" y="0"/>
                    <a:pt x="1002109" y="36018"/>
                    <a:pt x="1002109" y="80448"/>
                  </a:cubicBezTo>
                  <a:lnTo>
                    <a:pt x="1002109" y="131662"/>
                  </a:lnTo>
                  <a:cubicBezTo>
                    <a:pt x="1002109" y="152998"/>
                    <a:pt x="993633" y="173460"/>
                    <a:pt x="978546" y="188547"/>
                  </a:cubicBezTo>
                  <a:cubicBezTo>
                    <a:pt x="963459" y="203634"/>
                    <a:pt x="942997" y="212109"/>
                    <a:pt x="921661" y="212109"/>
                  </a:cubicBezTo>
                  <a:lnTo>
                    <a:pt x="80448" y="212109"/>
                  </a:lnTo>
                  <a:cubicBezTo>
                    <a:pt x="36018" y="212109"/>
                    <a:pt x="0" y="176092"/>
                    <a:pt x="0" y="131662"/>
                  </a:cubicBezTo>
                  <a:lnTo>
                    <a:pt x="0" y="80448"/>
                  </a:lnTo>
                  <a:cubicBezTo>
                    <a:pt x="0" y="36018"/>
                    <a:pt x="36018" y="0"/>
                    <a:pt x="80448" y="0"/>
                  </a:cubicBezTo>
                  <a:close/>
                </a:path>
              </a:pathLst>
            </a:custGeom>
            <a:solidFill>
              <a:srgbClr val="1F3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02109" cy="250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81769" y="6043450"/>
            <a:ext cx="4908013" cy="1038845"/>
            <a:chOff x="0" y="0"/>
            <a:chExt cx="1002109" cy="2121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2109" cy="212109"/>
            </a:xfrm>
            <a:custGeom>
              <a:avLst/>
              <a:gdLst/>
              <a:ahLst/>
              <a:cxnLst/>
              <a:rect l="l" t="t" r="r" b="b"/>
              <a:pathLst>
                <a:path w="1002109" h="212109">
                  <a:moveTo>
                    <a:pt x="80448" y="0"/>
                  </a:moveTo>
                  <a:lnTo>
                    <a:pt x="921661" y="0"/>
                  </a:lnTo>
                  <a:cubicBezTo>
                    <a:pt x="966091" y="0"/>
                    <a:pt x="1002109" y="36018"/>
                    <a:pt x="1002109" y="80448"/>
                  </a:cubicBezTo>
                  <a:lnTo>
                    <a:pt x="1002109" y="131662"/>
                  </a:lnTo>
                  <a:cubicBezTo>
                    <a:pt x="1002109" y="152998"/>
                    <a:pt x="993633" y="173460"/>
                    <a:pt x="978546" y="188547"/>
                  </a:cubicBezTo>
                  <a:cubicBezTo>
                    <a:pt x="963459" y="203634"/>
                    <a:pt x="942997" y="212109"/>
                    <a:pt x="921661" y="212109"/>
                  </a:cubicBezTo>
                  <a:lnTo>
                    <a:pt x="80448" y="212109"/>
                  </a:lnTo>
                  <a:cubicBezTo>
                    <a:pt x="36018" y="212109"/>
                    <a:pt x="0" y="176092"/>
                    <a:pt x="0" y="131662"/>
                  </a:cubicBezTo>
                  <a:lnTo>
                    <a:pt x="0" y="80448"/>
                  </a:lnTo>
                  <a:cubicBezTo>
                    <a:pt x="0" y="36018"/>
                    <a:pt x="36018" y="0"/>
                    <a:pt x="80448" y="0"/>
                  </a:cubicBezTo>
                  <a:close/>
                </a:path>
              </a:pathLst>
            </a:custGeom>
            <a:solidFill>
              <a:srgbClr val="1F3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02109" cy="250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3200" y="6175009"/>
            <a:ext cx="775727" cy="77572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65479" y="6175009"/>
            <a:ext cx="775727" cy="7757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66067" y="6175009"/>
            <a:ext cx="775727" cy="77572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23272" y="6311234"/>
            <a:ext cx="3567561" cy="4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579" b="1">
                <a:solidFill>
                  <a:srgbClr val="F4F6F8"/>
                </a:solidFill>
                <a:latin typeface="Inter Bold"/>
                <a:ea typeface="Inter Bold"/>
                <a:cs typeface="Inter Bold"/>
                <a:sym typeface="Inter Bold"/>
              </a:rPr>
              <a:t>Workforce Overview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55803" y="6311234"/>
            <a:ext cx="4138360" cy="4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579" b="1">
                <a:solidFill>
                  <a:srgbClr val="F4F6F8"/>
                </a:solidFill>
                <a:latin typeface="Inter Bold"/>
                <a:ea typeface="Inter Bold"/>
                <a:cs typeface="Inter Bold"/>
                <a:sym typeface="Inter Bold"/>
              </a:rPr>
              <a:t>Demographic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50665" y="6311234"/>
            <a:ext cx="3567561" cy="4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579" b="1">
                <a:solidFill>
                  <a:srgbClr val="F4F6F8"/>
                </a:solidFill>
                <a:latin typeface="Inter Bold"/>
                <a:ea typeface="Inter Bold"/>
                <a:cs typeface="Inter Bold"/>
                <a:sym typeface="Inter Bold"/>
              </a:rPr>
              <a:t>Attrition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2494" y="6300971"/>
            <a:ext cx="657140" cy="44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57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13927" y="6300971"/>
            <a:ext cx="657140" cy="44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57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02927" y="6300971"/>
            <a:ext cx="657140" cy="44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257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609" y="973694"/>
            <a:ext cx="13622675" cy="242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7"/>
              </a:lnSpc>
            </a:pPr>
            <a:r>
              <a:rPr lang="en-US" sz="9112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Contains 3-page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6129" y="5325632"/>
            <a:ext cx="12214168" cy="1592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28"/>
              </a:lnSpc>
            </a:pPr>
            <a:r>
              <a:rPr lang="en-US" sz="11662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Modeling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24437"/>
            <a:ext cx="4358950" cy="2949199"/>
            <a:chOff x="0" y="0"/>
            <a:chExt cx="1148036" cy="7767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680730"/>
            <a:ext cx="4358950" cy="2949199"/>
            <a:chOff x="0" y="0"/>
            <a:chExt cx="1148036" cy="7767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6934729"/>
            <a:ext cx="4358950" cy="2949199"/>
            <a:chOff x="0" y="0"/>
            <a:chExt cx="1148036" cy="7767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089526" y="780388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7"/>
                </a:lnTo>
                <a:lnTo>
                  <a:pt x="0" y="2237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089526" y="4036681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7"/>
                </a:lnTo>
                <a:lnTo>
                  <a:pt x="0" y="2237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089526" y="7402024"/>
            <a:ext cx="2119954" cy="2119954"/>
          </a:xfrm>
          <a:custGeom>
            <a:avLst/>
            <a:gdLst/>
            <a:ahLst/>
            <a:cxnLst/>
            <a:rect l="l" t="t" r="r" b="b"/>
            <a:pathLst>
              <a:path w="2119954" h="2119954">
                <a:moveTo>
                  <a:pt x="0" y="0"/>
                </a:moveTo>
                <a:lnTo>
                  <a:pt x="2119954" y="0"/>
                </a:lnTo>
                <a:lnTo>
                  <a:pt x="2119954" y="2119954"/>
                </a:lnTo>
                <a:lnTo>
                  <a:pt x="0" y="2119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05519" y="638175"/>
            <a:ext cx="12890599" cy="9146960"/>
          </a:xfrm>
          <a:custGeom>
            <a:avLst/>
            <a:gdLst/>
            <a:ahLst/>
            <a:cxnLst/>
            <a:rect l="l" t="t" r="r" b="b"/>
            <a:pathLst>
              <a:path w="12890599" h="9146960">
                <a:moveTo>
                  <a:pt x="0" y="0"/>
                </a:moveTo>
                <a:lnTo>
                  <a:pt x="12890599" y="0"/>
                </a:lnTo>
                <a:lnTo>
                  <a:pt x="12890599" y="9146960"/>
                </a:lnTo>
                <a:lnTo>
                  <a:pt x="0" y="9146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7850" y="1507800"/>
            <a:ext cx="7791450" cy="7750500"/>
            <a:chOff x="0" y="0"/>
            <a:chExt cx="1207099" cy="1200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7099" cy="1200755"/>
            </a:xfrm>
            <a:custGeom>
              <a:avLst/>
              <a:gdLst/>
              <a:ahLst/>
              <a:cxnLst/>
              <a:rect l="l" t="t" r="r" b="b"/>
              <a:pathLst>
                <a:path w="1207099" h="1200755">
                  <a:moveTo>
                    <a:pt x="0" y="0"/>
                  </a:moveTo>
                  <a:lnTo>
                    <a:pt x="1207099" y="0"/>
                  </a:lnTo>
                  <a:lnTo>
                    <a:pt x="1207099" y="1200755"/>
                  </a:lnTo>
                  <a:lnTo>
                    <a:pt x="0" y="1200755"/>
                  </a:lnTo>
                  <a:close/>
                </a:path>
              </a:pathLst>
            </a:custGeom>
            <a:blipFill>
              <a:blip r:embed="rId2"/>
              <a:stretch>
                <a:fillRect l="-24538" r="-245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36592" y="3330095"/>
            <a:ext cx="8115300" cy="422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1st Page</a:t>
            </a:r>
          </a:p>
          <a:p>
            <a:pPr algn="l">
              <a:lnSpc>
                <a:spcPts val="8320"/>
              </a:lnSpc>
            </a:pPr>
            <a:endParaRPr lang="en-US" sz="8000" b="1">
              <a:solidFill>
                <a:srgbClr val="1F3A5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Workforce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2237" y="650402"/>
            <a:ext cx="15523526" cy="8607898"/>
          </a:xfrm>
          <a:custGeom>
            <a:avLst/>
            <a:gdLst/>
            <a:ahLst/>
            <a:cxnLst/>
            <a:rect l="l" t="t" r="r" b="b"/>
            <a:pathLst>
              <a:path w="15523526" h="8607898">
                <a:moveTo>
                  <a:pt x="0" y="0"/>
                </a:moveTo>
                <a:lnTo>
                  <a:pt x="15523526" y="0"/>
                </a:lnTo>
                <a:lnTo>
                  <a:pt x="15523526" y="8607898"/>
                </a:lnTo>
                <a:lnTo>
                  <a:pt x="0" y="8607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7850" y="1507800"/>
            <a:ext cx="7791450" cy="7750500"/>
            <a:chOff x="0" y="0"/>
            <a:chExt cx="1207099" cy="1200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7099" cy="1200755"/>
            </a:xfrm>
            <a:custGeom>
              <a:avLst/>
              <a:gdLst/>
              <a:ahLst/>
              <a:cxnLst/>
              <a:rect l="l" t="t" r="r" b="b"/>
              <a:pathLst>
                <a:path w="1207099" h="1200755">
                  <a:moveTo>
                    <a:pt x="0" y="0"/>
                  </a:moveTo>
                  <a:lnTo>
                    <a:pt x="1207099" y="0"/>
                  </a:lnTo>
                  <a:lnTo>
                    <a:pt x="1207099" y="1200755"/>
                  </a:lnTo>
                  <a:lnTo>
                    <a:pt x="0" y="1200755"/>
                  </a:lnTo>
                  <a:close/>
                </a:path>
              </a:pathLst>
            </a:custGeom>
            <a:blipFill>
              <a:blip r:embed="rId2"/>
              <a:stretch>
                <a:fillRect l="-24538" r="-245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36592" y="3330095"/>
            <a:ext cx="8115300" cy="422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2nd Page</a:t>
            </a:r>
          </a:p>
          <a:p>
            <a:pPr algn="l">
              <a:lnSpc>
                <a:spcPts val="8320"/>
              </a:lnSpc>
            </a:pPr>
            <a:endParaRPr lang="en-US" sz="8000" b="1">
              <a:solidFill>
                <a:srgbClr val="1F3A5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Demographic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1438" y="1057682"/>
            <a:ext cx="14645123" cy="8171637"/>
          </a:xfrm>
          <a:custGeom>
            <a:avLst/>
            <a:gdLst/>
            <a:ahLst/>
            <a:cxnLst/>
            <a:rect l="l" t="t" r="r" b="b"/>
            <a:pathLst>
              <a:path w="14645123" h="8171637">
                <a:moveTo>
                  <a:pt x="0" y="0"/>
                </a:moveTo>
                <a:lnTo>
                  <a:pt x="14645124" y="0"/>
                </a:lnTo>
                <a:lnTo>
                  <a:pt x="14645124" y="8171636"/>
                </a:lnTo>
                <a:lnTo>
                  <a:pt x="0" y="817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67850" y="1507800"/>
            <a:ext cx="7791450" cy="7750500"/>
            <a:chOff x="0" y="0"/>
            <a:chExt cx="1207099" cy="1200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7099" cy="1200755"/>
            </a:xfrm>
            <a:custGeom>
              <a:avLst/>
              <a:gdLst/>
              <a:ahLst/>
              <a:cxnLst/>
              <a:rect l="l" t="t" r="r" b="b"/>
              <a:pathLst>
                <a:path w="1207099" h="1200755">
                  <a:moveTo>
                    <a:pt x="0" y="0"/>
                  </a:moveTo>
                  <a:lnTo>
                    <a:pt x="1207099" y="0"/>
                  </a:lnTo>
                  <a:lnTo>
                    <a:pt x="1207099" y="1200755"/>
                  </a:lnTo>
                  <a:lnTo>
                    <a:pt x="0" y="1200755"/>
                  </a:lnTo>
                  <a:close/>
                </a:path>
              </a:pathLst>
            </a:custGeom>
            <a:blipFill>
              <a:blip r:embed="rId2"/>
              <a:stretch>
                <a:fillRect l="-24538" r="-245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36592" y="3330095"/>
            <a:ext cx="8115300" cy="422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3rd Page</a:t>
            </a:r>
          </a:p>
          <a:p>
            <a:pPr algn="l">
              <a:lnSpc>
                <a:spcPts val="8320"/>
              </a:lnSpc>
            </a:pPr>
            <a:endParaRPr lang="en-US" sz="8000" b="1">
              <a:solidFill>
                <a:srgbClr val="1F3A5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Attrition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5376" y="736505"/>
            <a:ext cx="15917248" cy="8813990"/>
          </a:xfrm>
          <a:custGeom>
            <a:avLst/>
            <a:gdLst/>
            <a:ahLst/>
            <a:cxnLst/>
            <a:rect l="l" t="t" r="r" b="b"/>
            <a:pathLst>
              <a:path w="15917248" h="8813990">
                <a:moveTo>
                  <a:pt x="0" y="0"/>
                </a:moveTo>
                <a:lnTo>
                  <a:pt x="15917248" y="0"/>
                </a:lnTo>
                <a:lnTo>
                  <a:pt x="15917248" y="8813990"/>
                </a:lnTo>
                <a:lnTo>
                  <a:pt x="0" y="8813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29951" y="1653846"/>
            <a:ext cx="6221664" cy="108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01130" y="2983879"/>
            <a:ext cx="8205339" cy="6593231"/>
            <a:chOff x="0" y="0"/>
            <a:chExt cx="2161077" cy="17364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1077" cy="1736489"/>
            </a:xfrm>
            <a:custGeom>
              <a:avLst/>
              <a:gdLst/>
              <a:ahLst/>
              <a:cxnLst/>
              <a:rect l="l" t="t" r="r" b="b"/>
              <a:pathLst>
                <a:path w="2161077" h="1736489">
                  <a:moveTo>
                    <a:pt x="0" y="0"/>
                  </a:moveTo>
                  <a:lnTo>
                    <a:pt x="2161077" y="0"/>
                  </a:lnTo>
                  <a:lnTo>
                    <a:pt x="2161077" y="1736489"/>
                  </a:lnTo>
                  <a:lnTo>
                    <a:pt x="0" y="1736489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1077" cy="1774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34759" y="3053143"/>
            <a:ext cx="7519048" cy="629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954" lvl="1" indent="-230977" algn="l">
              <a:lnSpc>
                <a:spcPts val="2995"/>
              </a:lnSpc>
              <a:buFont typeface="Arial"/>
              <a:buChar char="•"/>
            </a:pPr>
            <a:r>
              <a:rPr lang="en-US" sz="213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The Challenge Solved:</a:t>
            </a:r>
            <a:r>
              <a:rPr lang="en-US" sz="2139">
                <a:solidFill>
                  <a:srgbClr val="333F48"/>
                </a:solidFill>
                <a:latin typeface="Inter"/>
                <a:ea typeface="Inter"/>
                <a:cs typeface="Inter"/>
                <a:sym typeface="Inter"/>
              </a:rPr>
              <a:t> Successfully eliminated slow, error-prone manual spreadsheets by centralizing workforce data into a robust, automated Power BI semantic model.</a:t>
            </a:r>
          </a:p>
          <a:p>
            <a:pPr marL="461954" lvl="1" indent="-230977" algn="l">
              <a:lnSpc>
                <a:spcPts val="2995"/>
              </a:lnSpc>
              <a:buFont typeface="Arial"/>
              <a:buChar char="•"/>
            </a:pPr>
            <a:r>
              <a:rPr lang="en-US" sz="213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Comprehensive 360° Visibility: </a:t>
            </a:r>
            <a:r>
              <a:rPr lang="en-US" sz="2139">
                <a:solidFill>
                  <a:srgbClr val="333F48"/>
                </a:solidFill>
                <a:latin typeface="Inter"/>
                <a:ea typeface="Inter"/>
                <a:cs typeface="Inter"/>
                <a:sym typeface="Inter"/>
              </a:rPr>
              <a:t>Delivered an intuitive, interactive three-page dashboard that bridges the gap between different stakeholders—empowering HR and executive leadership with real-time insights into headcount, payroll, demographics, and attrition drivers. </a:t>
            </a:r>
          </a:p>
          <a:p>
            <a:pPr marL="461954" lvl="1" indent="-230977" algn="l">
              <a:lnSpc>
                <a:spcPts val="2995"/>
              </a:lnSpc>
              <a:buFont typeface="Arial"/>
              <a:buChar char="•"/>
            </a:pPr>
            <a:r>
              <a:rPr lang="en-US" sz="213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Actionable Business Value:</a:t>
            </a:r>
            <a:r>
              <a:rPr lang="en-US" sz="2139">
                <a:solidFill>
                  <a:srgbClr val="333F48"/>
                </a:solidFill>
                <a:latin typeface="Inter"/>
                <a:ea typeface="Inter"/>
                <a:cs typeface="Inter"/>
                <a:sym typeface="Inter"/>
              </a:rPr>
              <a:t> Standardized critical KPI metrics to shift the organization from reactive reporting to proactive retention strategies, pay-equity monitoring, and optimized workforce management.</a:t>
            </a:r>
          </a:p>
          <a:p>
            <a:pPr marL="461954" lvl="1" indent="-230977" algn="l">
              <a:lnSpc>
                <a:spcPts val="2995"/>
              </a:lnSpc>
              <a:buFont typeface="Arial"/>
              <a:buChar char="•"/>
            </a:pPr>
            <a:r>
              <a:rPr lang="en-US" sz="2139" b="1">
                <a:solidFill>
                  <a:srgbClr val="333F48"/>
                </a:solidFill>
                <a:latin typeface="Inter Bold"/>
                <a:ea typeface="Inter Bold"/>
                <a:cs typeface="Inter Bold"/>
                <a:sym typeface="Inter Bold"/>
              </a:rPr>
              <a:t>Future-Ready Roadmap:</a:t>
            </a:r>
            <a:r>
              <a:rPr lang="en-US" sz="2139">
                <a:solidFill>
                  <a:srgbClr val="333F48"/>
                </a:solidFill>
                <a:latin typeface="Inter"/>
                <a:ea typeface="Inter"/>
                <a:cs typeface="Inter"/>
                <a:sym typeface="Inter"/>
              </a:rPr>
              <a:t> Established a scalable foundation for advanced analytics, laying the groundwork for predictive turnover modeling and continuous organizational excellence.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13755"/>
            <a:ext cx="4358950" cy="2949199"/>
            <a:chOff x="0" y="0"/>
            <a:chExt cx="1148036" cy="7767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3670048"/>
            <a:ext cx="4358950" cy="2949199"/>
            <a:chOff x="0" y="0"/>
            <a:chExt cx="1148036" cy="7767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924047"/>
            <a:ext cx="4358950" cy="2949199"/>
            <a:chOff x="0" y="0"/>
            <a:chExt cx="1148036" cy="7767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089526" y="769705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089526" y="4025998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089526" y="7391342"/>
            <a:ext cx="2119954" cy="2119954"/>
          </a:xfrm>
          <a:custGeom>
            <a:avLst/>
            <a:gdLst/>
            <a:ahLst/>
            <a:cxnLst/>
            <a:rect l="l" t="t" r="r" b="b"/>
            <a:pathLst>
              <a:path w="2119954" h="2119954">
                <a:moveTo>
                  <a:pt x="0" y="0"/>
                </a:moveTo>
                <a:lnTo>
                  <a:pt x="2119954" y="0"/>
                </a:lnTo>
                <a:lnTo>
                  <a:pt x="2119954" y="2119953"/>
                </a:lnTo>
                <a:lnTo>
                  <a:pt x="0" y="21199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64307" y="412608"/>
            <a:ext cx="4358950" cy="2949199"/>
            <a:chOff x="0" y="0"/>
            <a:chExt cx="1148036" cy="776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16377" y="413755"/>
            <a:ext cx="4358950" cy="2949199"/>
            <a:chOff x="0" y="0"/>
            <a:chExt cx="1148036" cy="7767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64307" y="3668901"/>
            <a:ext cx="4358950" cy="2949199"/>
            <a:chOff x="0" y="0"/>
            <a:chExt cx="1148036" cy="7767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6377" y="3670048"/>
            <a:ext cx="4358950" cy="2949199"/>
            <a:chOff x="0" y="0"/>
            <a:chExt cx="1148036" cy="7767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64307" y="6922899"/>
            <a:ext cx="4358950" cy="2949199"/>
            <a:chOff x="0" y="0"/>
            <a:chExt cx="1148036" cy="7767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6377" y="6924047"/>
            <a:ext cx="4358950" cy="2949199"/>
            <a:chOff x="0" y="0"/>
            <a:chExt cx="1148036" cy="7767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8036" cy="776744"/>
            </a:xfrm>
            <a:custGeom>
              <a:avLst/>
              <a:gdLst/>
              <a:ahLst/>
              <a:cxnLst/>
              <a:rect l="l" t="t" r="r" b="b"/>
              <a:pathLst>
                <a:path w="1148036" h="776744">
                  <a:moveTo>
                    <a:pt x="0" y="0"/>
                  </a:moveTo>
                  <a:lnTo>
                    <a:pt x="1148036" y="0"/>
                  </a:lnTo>
                  <a:lnTo>
                    <a:pt x="1148036" y="776744"/>
                  </a:lnTo>
                  <a:lnTo>
                    <a:pt x="0" y="776744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48036" cy="81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625133" y="768558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4625133" y="4024851"/>
            <a:ext cx="2237298" cy="2237298"/>
          </a:xfrm>
          <a:custGeom>
            <a:avLst/>
            <a:gdLst/>
            <a:ahLst/>
            <a:cxnLst/>
            <a:rect l="l" t="t" r="r" b="b"/>
            <a:pathLst>
              <a:path w="2237298" h="2237298">
                <a:moveTo>
                  <a:pt x="0" y="0"/>
                </a:moveTo>
                <a:lnTo>
                  <a:pt x="2237298" y="0"/>
                </a:lnTo>
                <a:lnTo>
                  <a:pt x="2237298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625133" y="7390194"/>
            <a:ext cx="2119954" cy="2119954"/>
          </a:xfrm>
          <a:custGeom>
            <a:avLst/>
            <a:gdLst/>
            <a:ahLst/>
            <a:cxnLst/>
            <a:rect l="l" t="t" r="r" b="b"/>
            <a:pathLst>
              <a:path w="2119954" h="2119954">
                <a:moveTo>
                  <a:pt x="0" y="0"/>
                </a:moveTo>
                <a:lnTo>
                  <a:pt x="2119954" y="0"/>
                </a:lnTo>
                <a:lnTo>
                  <a:pt x="2119954" y="2119954"/>
                </a:lnTo>
                <a:lnTo>
                  <a:pt x="0" y="2119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131292" y="7278850"/>
            <a:ext cx="2036567" cy="2231298"/>
          </a:xfrm>
          <a:custGeom>
            <a:avLst/>
            <a:gdLst/>
            <a:ahLst/>
            <a:cxnLst/>
            <a:rect l="l" t="t" r="r" b="b"/>
            <a:pathLst>
              <a:path w="2036567" h="2231298">
                <a:moveTo>
                  <a:pt x="0" y="0"/>
                </a:moveTo>
                <a:lnTo>
                  <a:pt x="2036566" y="0"/>
                </a:lnTo>
                <a:lnTo>
                  <a:pt x="2036566" y="2231298"/>
                </a:lnTo>
                <a:lnTo>
                  <a:pt x="0" y="2231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0268052" y="768558"/>
            <a:ext cx="1655600" cy="2237298"/>
          </a:xfrm>
          <a:custGeom>
            <a:avLst/>
            <a:gdLst/>
            <a:ahLst/>
            <a:cxnLst/>
            <a:rect l="l" t="t" r="r" b="b"/>
            <a:pathLst>
              <a:path w="1655600" h="2237298">
                <a:moveTo>
                  <a:pt x="0" y="0"/>
                </a:moveTo>
                <a:lnTo>
                  <a:pt x="1655601" y="0"/>
                </a:lnTo>
                <a:lnTo>
                  <a:pt x="1655601" y="2237298"/>
                </a:lnTo>
                <a:lnTo>
                  <a:pt x="0" y="2237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80256" y="3877483"/>
            <a:ext cx="1738638" cy="2384666"/>
          </a:xfrm>
          <a:custGeom>
            <a:avLst/>
            <a:gdLst/>
            <a:ahLst/>
            <a:cxnLst/>
            <a:rect l="l" t="t" r="r" b="b"/>
            <a:pathLst>
              <a:path w="1738638" h="2384666">
                <a:moveTo>
                  <a:pt x="0" y="0"/>
                </a:moveTo>
                <a:lnTo>
                  <a:pt x="1738638" y="0"/>
                </a:lnTo>
                <a:lnTo>
                  <a:pt x="1738638" y="2384666"/>
                </a:lnTo>
                <a:lnTo>
                  <a:pt x="0" y="2384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0" y="0"/>
            <a:ext cx="10800759" cy="10287000"/>
            <a:chOff x="0" y="0"/>
            <a:chExt cx="2844644" cy="27093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44644" cy="2709333"/>
            </a:xfrm>
            <a:custGeom>
              <a:avLst/>
              <a:gdLst/>
              <a:ahLst/>
              <a:cxnLst/>
              <a:rect l="l" t="t" r="r" b="b"/>
              <a:pathLst>
                <a:path w="2844644" h="2709333">
                  <a:moveTo>
                    <a:pt x="0" y="0"/>
                  </a:moveTo>
                  <a:lnTo>
                    <a:pt x="2844644" y="0"/>
                  </a:lnTo>
                  <a:lnTo>
                    <a:pt x="28446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8446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23949" y="3101995"/>
            <a:ext cx="7285632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2664" y="4356625"/>
            <a:ext cx="7285632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 b="1">
                <a:solidFill>
                  <a:srgbClr val="1F3A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3962" y="9186862"/>
            <a:ext cx="732130" cy="0"/>
          </a:xfrm>
          <a:prstGeom prst="line">
            <a:avLst/>
          </a:prstGeom>
          <a:ln w="142875" cap="flat">
            <a:solidFill>
              <a:srgbClr val="1F3A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1939314" y="9186862"/>
            <a:ext cx="732130" cy="0"/>
          </a:xfrm>
          <a:prstGeom prst="line">
            <a:avLst/>
          </a:prstGeom>
          <a:ln w="142875" cap="flat">
            <a:solidFill>
              <a:srgbClr val="6EA8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2852419" y="9186862"/>
            <a:ext cx="732130" cy="0"/>
          </a:xfrm>
          <a:prstGeom prst="line">
            <a:avLst/>
          </a:prstGeom>
          <a:ln w="142875" cap="flat">
            <a:solidFill>
              <a:srgbClr val="2E5B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99372" y="6455900"/>
            <a:ext cx="6880881" cy="4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33F48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Custom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Canva Sans</vt:lpstr>
      <vt:lpstr>Inter Medium</vt:lpstr>
      <vt:lpstr>Montserrat Medium</vt:lpstr>
      <vt:lpstr>Montserrat Bold</vt:lpstr>
      <vt:lpstr>Montserrat Bold Italics</vt:lpstr>
      <vt:lpstr>Inter</vt:lpstr>
      <vt:lpstr>Montserrat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Gray Professional Data Analysis Presentation</dc:title>
  <cp:lastModifiedBy>Abdullah Ahmed</cp:lastModifiedBy>
  <cp:revision>1</cp:revision>
  <dcterms:created xsi:type="dcterms:W3CDTF">2006-08-16T00:00:00Z</dcterms:created>
  <dcterms:modified xsi:type="dcterms:W3CDTF">2026-10-30T19:35:20Z</dcterms:modified>
  <dc:identifier>DAHZgslCY1Q</dc:identifier>
</cp:coreProperties>
</file>